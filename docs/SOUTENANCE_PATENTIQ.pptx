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Bonjour. Je présente PatentIQ, développé chez I2PA à Mohammedia. Durée ~15 min + démo +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Annoncer le fil : du métier vers la technique, puis la démo si prévue.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Insister : PatentIQ ne remplace pas l'OMPIC, il prépare et suit le dossier.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Phrase clé de l'encadrante à citer : « Les systèmes sont différents par rapport aux produits. 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axes = structure du rapport.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la rigueur : pas de big bang, validation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Schéma mental : Navigateur → Next.js → Supabase → APIs. Exporter diagramme depuis DIAGRAMMES_UML.md si besoin.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rôle ne voit que ce qui le concerne — confidentialité.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: tableau de bord porteur + score de complétude.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: onglet Parcours PI → Rédaction → Lancer le pré-examen.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: lancer analyse nouveauté si worker actif. Sinon montrer historique.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DÉMO : surveillance → recherche marque → alerte similarité.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Réponse directe à la remarque encadrante. Ne pas fusionner les parcours.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1-2 si le temps le permet ; sinon mentionner dans la conclusion.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Difficulté vécue : policies mal écrites = erreurs silencieuses → migrations correctives.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npm test · npm run typecheck · npm run build — tout passe.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Tableau synthèse — être honnête sur les limites à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de la maturité : limites documentées &gt; fausses promesses.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Court — 30 secondes.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Phrase de clôture du rapport. Remercier I2PA, encadrante, tuteur.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Préparer réponses : OMPIC sans API, worker IA, comparaison logiciels PI du marché.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PatentIQ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1E293B"/>
                </a:solidFill>
              </a:defRPr>
            </a:pPr>
            <a:r>
              <a:t>Plateforme web d'assistance à la propriété intellectuelle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[Prénom NOM] · Stage I2PA · [JJ/MM/AAAA – JJ/MM/AAAA]</a:t>
            </a:r>
            <a:br/>
            <a:r>
              <a:t>[École / Filière] · Encadrante : [Nom] · Tuteur : [Nom]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Plan de la présentation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Contexte I2PA et problématique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Objectifs et méthode de travail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Architecture et acteurs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Les 4 piliers fonctionnels de PatentIQ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Intelligence artificielle (encadrée et honnête)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Résultats, difficultés et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I2PA — Contexte d'accueil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Cabinet marocain de conseil en propriété intellectuelle (Mohammedia)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Mission : accompagner porteurs et entreprises — brevets, marques, dessins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I2PA conseille et structure ; le dépôt officiel reste sur l'OMPIC (directompic.ma)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Slogan : « Protéger, valoriser, innover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Problématique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Dossiers PI dispersés : emails, PDF mal rangés, antériorité non reliée au dossier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Délais critiques : opposition marque (~2 mois) vs publication brevet (~18 mois)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Pas d'outil léger adapté au contexte marocain porteur ↔ conseiller CPI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 i="1">
                <a:solidFill>
                  <a:srgbClr val="0A66C2"/>
                </a:solidFill>
              </a:defRPr>
            </a:pPr>
            <a:r>
              <a:t>Comment centraliser et fiabiliser le suivi d'un dossier PI, sans se substituer à l'OMPIC, avec une IA transparente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Objectifs du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Comprendre le parcours réel d'un dossier PI au Maroc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Concevoir et développer PatentIQ par itérations courtes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Aligner les fonctionnalités sur les retours de l'encadrante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Tester, documenter et préparer une démonstration crédible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Méthode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Développement incrémental : migration SQL → action serveur → interface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Validation « double session » : porteur (navigateur 1) + CPI (navigateur 2)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3 phases : socle collaboratif → attentes métier → consolidation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32 migrations · 104+ tests unitaires · documentation dans docs/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Architecture technique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Frontend : Next.js 14 (App Router), React, TypeScript, Tailwind, shadcn/ui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Backend : Server Actions + Supabase (PostgreSQL, Auth, Storage)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Sécurité : Row Level Security — permissions en base, pas seulement dans l'UI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Externe : EPO OPS (brevets), Hugging Face (synthèse), search.ompic.ma (marques)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Déploiement : Vercel + Supabase (tier gratuit)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Acteurs et espaces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Porteur de projet → /dashboard : crée le dossier, dépose, lance les analyses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Conseiller CPI → /cpi : revue, statuts, Kanban, surveillance portefeuille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Expert métier → /expert : avis technique structuré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Administrateur → /admin : utilisateurs, paramètres, audit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7 catégories de dossiers · checklists adaptées à chaque type de titre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Pilier 1 — Dossier collaboratif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Projet structuré : Dossier · Analyses IA · Échanges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Documents versionnés (PDF, Word, images) — stockage sécurisé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Checklist métier par catégorie (brevet ≠ marque ≠ dessin)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Score de complétude : résumé, documents, checklist → % + prochaine action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Workflow 9 statuts : brouillon → soumis → revue CPI → approuvé / clôturé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Pilier 2 — Rédaction &amp; revendications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Sections brevet structurées (titre, abrégé, description, revendications)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Revendications dans un espace dédié — séparé des messages ouverts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Pré-examen automatique : anomalies fréquentes avant revue CPI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· Revendication indépendante, abrégé ≤ 150 mots, termes vagues, base d'antériorité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Export dossier brevet (PDF) pour le conseiller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Pilier 3 — Analyses IA assistées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7 types : nouveauté, FTO, sémantique, similarité, résumé, classification IPC, tags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Sources réelles : EPO OPS + filtre pn=MA (brevets Maroc) + OMPIC marques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Pipeline asynchrone : pending → worker → completed (documenté)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Synthèses indicatives — rappel explicite : ne remplace pas un avis juridique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Incident corrigé : pa=MA (déposant) → pn=MA (publication marocaine)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Pilier 4 — Surveillance &amp; veille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Watchlist OMPIC : scan similarité marques sur search.ompic.ma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Modes honnêtes : live · stub (démo) · proxy · hybrid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Veille technologique : mots-clés + classes IPC sur brevets EPO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Échéances PI : opposition marque, publication brevet — rappels tableau de bord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Dessins : cycle de gestion oui ; recherche auto non (pas d'API OMPIC)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Cycles de vie distincts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Marque : dépôt → publication → opposition (~2 mois) → enregistrement → surveillance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Brevet : dépôt → examen → publication (~18 mois) → délivrance → veille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Dessin &amp; modèle : dépôt → examen → publication → surveillance manuelle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Libellés UI adaptés : « Description de la marque » ≠ « Résumé de l'invention 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Fonctionnalités avancées (fin de stage)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Tableau de bord portefeuille CPI (répartition statuts / types PI)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Cartographie des revendications vs antériorité (claim chart)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Générateur de dénominations de marque + vérification OMPIC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Assistance réponse aux irrégularités OMPIC (brouillon structuré)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Pré-examen brevet + score de complétude (heuristiques testables)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Sécurité &amp; confidentialité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PostgreSQL RLS : can_view_project(), can_edit_project()…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Un porteur ne voit jamais le dossier d'un autre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Email confirmé à l'inscription · 2FA TOTP disponible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Journal d'audit des actions sensibles (admin)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Tests &amp;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104+ tests unitaires (Vitest) : EPO, cycles PI, complétude, pré-examen…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Tests E2E Playwright : parcours critiques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Validation métier : démos régulières devant l'encadrante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Scénarios documentés : parcours marque + parcours brevet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Résultats à la clôture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✓ Parcours porteur → conseiller opérationnel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✓ Analyses IA + surveillance OMPIC (mode hybrid)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✓ Rédaction brevet, revendications, export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✓ Cycles marque / brevet / dessin différenciés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✓ Déploiement documenté (Vercel + Supabase)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Limites assumées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Pas d'API OMPIC officielle → recherche marques via portail public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Analyses IA : worker requis (npm run ai:worker:loop)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Synthèses indicatives — décision finale = CPI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Dessins : pas de moteur de recherche automatique (choix de transparence)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MVP crédible, pas produit commercial complet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Industrialiser la passerelle OMPIC (partenariat / proxy)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Notifications email · embeddings vectoriels pour le RAG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Renforcement tests E2E en CI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Mise en production encadrée chez I2PA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66C2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1430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PatentIQ structure la préparation et le suivi d'un dossier PI pour I2PA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Collaboration multi-acteurs · antériorité assistée · surveillance OMPIC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Le métier impose l'architecture — écouter avant de coder</a:t>
            </a:r>
          </a:p>
          <a:p>
            <a:pPr>
              <a:spcAft>
                <a:spcPts val="800"/>
              </a:spcAft>
              <a:defRPr sz="1800" b="0">
                <a:solidFill>
                  <a:srgbClr val="1E293B"/>
                </a:solidFill>
              </a:defRPr>
            </a:pPr>
            <a:r>
              <a:t>Le dépôt officiel reste sur directompic.ma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949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 i="1">
                <a:solidFill>
                  <a:srgbClr val="0A66C2"/>
                </a:solidFill>
              </a:defRPr>
            </a:pPr>
            <a:r>
              <a:t>« Une limite documentée vaut mieux qu'une illusion confortable.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64922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</a:defRPr>
            </a:pPr>
            <a:r>
              <a:t>PatentIQ · I2PA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0"/>
          </a:xfrm>
          <a:prstGeom prst="rect">
            <a:avLst/>
          </a:prstGeom>
          <a:solidFill>
            <a:srgbClr val="0A6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Merci pour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0">
                <a:solidFill>
                  <a:srgbClr val="1E293B"/>
                </a:solidFill>
              </a:defRPr>
            </a:pPr>
            <a:r>
              <a:t>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0">
                <a:solidFill>
                  <a:srgbClr val="64748B"/>
                </a:solidFill>
              </a:defRPr>
            </a:pPr>
            <a:r>
              <a:t>PatentIQ · I2PA · [Prénom NOM]</a:t>
            </a:r>
            <a:br/>
            <a:r>
              <a:t>Démo live disponible · docs/DEMO_ENCADRANTE.md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