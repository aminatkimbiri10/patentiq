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1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Bonjour à toutes et à tous.</a:t>
            </a:r>
          </a:p>
          <a:p/>
          <a:p>
            <a:r>
              <a:t>Je m'appelle **[Prénom NOM]**, étudiant(e) en **[filière]** à **[établissement]**.</a:t>
            </a:r>
          </a:p>
          <a:p/>
          <a:p>
            <a:r>
              <a:t>J'ai effectué mon stage de **[X] semaines** au sein d'**I2PA** — International Intellectual Property Assistance — à Mohammedia, sous la direction de **[encadrante]** et avec le suivi de **[tuteur]**.</a:t>
            </a:r>
          </a:p>
          <a:p/>
          <a:p>
            <a:r>
              <a:t>Le sujet de mon stage : la conception et le développement de **PatentIQ**, une plateforme web d'assistance à la propriété intellectuelle.</a:t>
            </a:r>
          </a:p>
          <a:p/>
          <a:p>
            <a:r>
              <a:t>Dans les quinze minutes qui suivent, je vais vous présenter le contexte, l'architecture, les fonctionnalités livrées, et ce que ce projet m'a appris — techniquement et sur le plan métier.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2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Ma présentation s'articule en six temps.</a:t>
            </a:r>
          </a:p>
          <a:p/>
          <a:p>
            <a:r>
              <a:t>D'abord le **contexte I2PA** et la problématique qui a motivé le projet.</a:t>
            </a:r>
          </a:p>
          <a:p/>
          <a:p>
            <a:r>
              <a:t>Ensuite les **objectifs** et ma **méthode de travail**.</a:t>
            </a:r>
          </a:p>
          <a:p/>
          <a:p>
            <a:r>
              <a:t>Puis l'**architecture** et les **acteurs** de la plateforme.</a:t>
            </a:r>
          </a:p>
          <a:p/>
          <a:p>
            <a:r>
              <a:t>Le cœur de la soutenance : les **quatre piliers fonctionnels** de PatentIQ.</a:t>
            </a:r>
          </a:p>
          <a:p/>
          <a:p>
            <a:r>
              <a:t>Un point dédié à l'**intelligence artificielle**, avec ses limites assumées.</a:t>
            </a:r>
          </a:p>
          <a:p/>
          <a:p>
            <a:r>
              <a:t>Et enfin les **résultats**, les difficultés rencontrées, et les **perspectives**.</a:t>
            </a:r>
          </a:p>
          <a:p/>
          <a:p>
            <a:r>
              <a:t>Si le temps le permet, je pourrai enchaîner sur une **démonstration live** de l'application.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3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**I2PA** est un cabinet marocain spécialisé en propriété intellectuelle, basé à Mohammedia.</a:t>
            </a:r>
          </a:p>
          <a:p/>
          <a:p>
            <a:r>
              <a:t>Son rôle : accompagner les porteurs de projets et les entreprises dans la protection de leurs innovations — brevets, marques, dessins et modèles — et dans la veille sur leurs titres une fois déposés.</a:t>
            </a:r>
          </a:p>
          <a:p/>
          <a:p>
            <a:r>
              <a:t>Un point essentiel à comprendre dès le départ : **I2PA conseille et structure les dossiers, mais ne dépose pas à la place du client**. Le dépôt officiel se fait sur les portails de l'**OMPIC**, notamment **directompic.ma**.</a:t>
            </a:r>
          </a:p>
          <a:p/>
          <a:p>
            <a:r>
              <a:t>PatentIQ a donc été conçu dans ce cadre : **préparer, centraliser et suivre** un dossier, en amont et en aval des démarches officielles — pas les remplacer.</a:t>
            </a:r>
          </a:p>
          <a:p/>
          <a:p>
            <a:r>
              <a:t>Le slogan du cabinet résume bien cette mission : *« Protéger, valoriser, innover »*.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4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Concrètement, sans outil dédié, le suivi d'un dossier PI se disperse très vite.</a:t>
            </a:r>
          </a:p>
          <a:p/>
          <a:p>
            <a:r>
              <a:t>Les pièces justificatives finissent dans des fils de courriels. Une recherche d'antériorité faite une fois n'est jamais rattachée au dossier client. Les délais propres à chaque type de titre se mélangent — alors qu'une **marque** et un **brevet** n'ont rien de comparable.</a:t>
            </a:r>
          </a:p>
          <a:p/>
          <a:p>
            <a:r>
              <a:t>Pour une marque, la fenêtre d'**opposition** après publication se compte en **quelques semaines**. Pour un brevet, la **publication** intervient plutôt autour de **dix-huit mois** après le dépôt.</a:t>
            </a:r>
          </a:p>
          <a:p/>
          <a:p>
            <a:r>
              <a:t>La question centrale de mon stage peut se formuler ainsi :</a:t>
            </a:r>
          </a:p>
          <a:p/>
          <a:p>
            <a:r>
              <a:t>&gt; *Comment doter un cabinet comme I2PA d'un outil capable de centraliser et fiabiliser le suivi d'un dossier PI, sans se substituer à l'OMPIC, tout en intégrant l'IA de manière transparente et honnête ?*</a:t>
            </a:r>
          </a:p>
          <a:p/>
          <a:p>
            <a:r>
              <a:t>Lors d'un point de suivi, mon encadrante m'a aussi dit une phrase qui a structuré tout le développement : *« Les systèmes sont différents par rapport aux produits. »* — on ne gère pas une marque comme un brevet.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5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Mes objectifs se sont articulés en quatre axes.</a:t>
            </a:r>
          </a:p>
          <a:p/>
          <a:p>
            <a:r>
              <a:t>**Premier axe :** comprendre le parcours réel d'un dossier PI au Maroc — du porteur au conseiller CPI, en passant par l'expert si besoin.</a:t>
            </a:r>
          </a:p>
          <a:p/>
          <a:p>
            <a:r>
              <a:t>**Deuxième axe :** concevoir et développer PatentIQ par **itérations courtes** — une brique à la fois, testée avant de passer à la suivante.</a:t>
            </a:r>
          </a:p>
          <a:p/>
          <a:p>
            <a:r>
              <a:t>**Troisième axe :** aligner les fonctionnalités sur les **retours concrets de l'encadrante**, plutôt que sur mes propres suppositions techniques.</a:t>
            </a:r>
          </a:p>
          <a:p/>
          <a:p>
            <a:r>
              <a:t>**Quatrième axe :** tester, documenter, et préparer une **démonstration crédible** — celle que je vous présente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6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Sur le plan méthodologique, j'ai travaillé de façon **incrémentale**.</a:t>
            </a:r>
          </a:p>
          <a:p/>
          <a:p>
            <a:r>
              <a:t>Chaque évolution suivait le même schéma : une **migration SQL**, une **action serveur**, un **composant d'interface** — puis validation avant d'avancer.</a:t>
            </a:r>
          </a:p>
          <a:p/>
          <a:p>
            <a:r>
              <a:t>Ma règle d'or pour tester : la **double session**. Un navigateur en compte **porteur**, un autre en compte **conseiller CPI**. C'est ainsi que j'ai détecté la majorité des problèmes de permissions et de navigation.</a:t>
            </a:r>
          </a:p>
          <a:p/>
          <a:p>
            <a:r>
              <a:t>Le projet s'est déroulé en **trois phases** : d'abord le socle collaboratif, puis les attentes métier de l'encadrante, enfin la consolidation et les finitions.</a:t>
            </a:r>
          </a:p>
          <a:p/>
          <a:p>
            <a:r>
              <a:t>À la clôture : **32 migrations** de base de données, plus de **cent tests unitaires**, et une documentation complète dans le dossier `docs/`.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7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Sur le plan technique, j'ai choisi une stack **moderne et légère**, déployable sans budget cloud initial.</a:t>
            </a:r>
          </a:p>
          <a:p/>
          <a:p>
            <a:r>
              <a:t>Côté **frontend** : **Next.js 14** avec l'App Router, **React**, **TypeScript**, **Tailwind CSS** et **shadcn/ui** pour les composants.</a:t>
            </a:r>
          </a:p>
          <a:p/>
          <a:p>
            <a:r>
              <a:t>Côté **backend** : pas de serveur séparé — les **Server Actions** de Next.js parlent directement à **Supabase** : PostgreSQL pour les données, Auth pour l'authentification, Storage pour les fichiers.</a:t>
            </a:r>
          </a:p>
          <a:p/>
          <a:p>
            <a:r>
              <a:t>La **sécurité** repose sur le **Row Level Security** de PostgreSQL : les permissions sont appliquées **en base de données**, pas seulement dans l'interface. Un porteur ne peut pas contourner une règle d'accès en manipulant l'URL.</a:t>
            </a:r>
          </a:p>
          <a:p/>
          <a:p>
            <a:r>
              <a:t>Pour les données externes : l'**EPO Open Patent Services** pour les brevets, **Hugging Face** pour les synthèses textuelles, et le portail public **search.ompic.ma** pour les marques.</a:t>
            </a:r>
          </a:p>
          <a:p/>
          <a:p>
            <a:r>
              <a:t>Le tout est déployable sur **Vercel** et **Supabase** en offre gratuite.</a:t>
            </a:r>
          </a:p>
          <a:p/>
          <a:p>
            <a:r>
              <a:t>*(Si tu as inséré un schéma : « Comme le montre ce diagramme, le navigateur communique en HTTPS avec Next.js, qui s'appuie sur Supabase et les APIs externes. »)*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8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PatentIQ distingue **quatre rôles**.</a:t>
            </a:r>
          </a:p>
          <a:p/>
          <a:p>
            <a:r>
              <a:t>Le **porteur de projet** accède à l'espace `/dashboard` : il crée ses dossiers, dépose des documents, lance des analyses, et suit l'avancement.</a:t>
            </a:r>
          </a:p>
          <a:p/>
          <a:p>
            <a:r>
              <a:t>Le **conseiller CPI** a son espace `/cpi` : il traite les dossiers qui lui sont assignés, fait évoluer les statuts, pilote son portefeuille via un Kanban, et gère la surveillance de ses clients.</a:t>
            </a:r>
          </a:p>
          <a:p/>
          <a:p>
            <a:r>
              <a:t>L'**expert métier** intervient sur `/expert` pour rendre un avis technique structuré.</a:t>
            </a:r>
          </a:p>
          <a:p/>
          <a:p>
            <a:r>
              <a:t>L'**administrateur** gère les utilisateurs, les paramètres du workflow et consulte le journal d'audit.</a:t>
            </a:r>
          </a:p>
          <a:p/>
          <a:p>
            <a:r>
              <a:t>Chaque dossier appartient à l'une de **sept catégories** — brevet, marque, dessin, etc. — avec une **checklist métier** adaptée. Ce n'est pas du cosmétique : une checklist brevet et une checklist marque ne portent pas sur les mêmes étapes.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9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**[→ DÉMO possible : tableau de bord porteur]**</a:t>
            </a:r>
          </a:p>
          <a:p/>
          <a:p>
            <a:r>
              <a:t>Le premier pilier, c'est le **dossier collaboratif**.</a:t>
            </a:r>
          </a:p>
          <a:p/>
          <a:p>
            <a:r>
              <a:t>Chaque projet est organisé en trois onglets : **Dossier**, **Analyses IA**, et **Échanges** — commentaires, messages et tâches.</a:t>
            </a:r>
          </a:p>
          <a:p/>
          <a:p>
            <a:r>
              <a:t>Les documents sont **versionnés** et stockés de façon sécurisée : PDF, Word, images, jusqu'à cinquante mégaoctets par fichier.</a:t>
            </a:r>
          </a:p>
          <a:p/>
          <a:p>
            <a:r>
              <a:t>La **checklist** guide le porteur étape par étape, selon la catégorie du dossier.</a:t>
            </a:r>
          </a:p>
          <a:p/>
          <a:p>
            <a:r>
              <a:t>J'ai aussi ajouté un **score de complétude** : un pourcentage calculé à partir du résumé, des documents déposés et de la progression de la checklist — avec la **prochaine action** à réaliser. C'est inspiré des outils de *docketing* des grands cabinets, adapté au contexte I2PA.</a:t>
            </a:r>
          </a:p>
          <a:p/>
          <a:p>
            <a:r>
              <a:t>Enfin, un **workflow à neuf statuts** encadre le parcours, du brouillon jusqu'à la clôture — et les transitions dépendent du **rôle** : un porteur ne peut pas s'auto-approuver un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10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**[→ DÉMO possible : Parcours PI → Rédaction → Pré-examen]**</a:t>
            </a:r>
          </a:p>
          <a:p/>
          <a:p>
            <a:r>
              <a:t>Le deuxième pilier concerne la **rédaction de brevet** et les **revendications**.</a:t>
            </a:r>
          </a:p>
          <a:p/>
          <a:p>
            <a:r>
              <a:t>Le brouillon est structuré en sections : titre, domaine technique, état de l'art, description, abrégé.</a:t>
            </a:r>
          </a:p>
          <a:p/>
          <a:p>
            <a:r>
              <a:t>Les **revendications** vivent dans un espace **dédié et séparé** des messages ouverts — parce qu'une revendication est confidentielle et engageante ; elle ne doit pas se retrouver dans un fil de discussion général.</a:t>
            </a:r>
          </a:p>
          <a:p/>
          <a:p>
            <a:r>
              <a:t>J'ai implémenté un **pré-examen automatique** : avant la revue CPI, le système détecte les anomalies les plus fréquentes — absence de revendication indépendante, abrégé trop long, termes vagues, problèmes de base d'antériorité. Ce n'est pas une validation juridique ; c'est une **aide à la relecture**, basée sur des règles testables.</a:t>
            </a:r>
          </a:p>
          <a:p/>
          <a:p>
            <a:r>
              <a:t>Le conseiller peut aussi **exporter** le dossier brevet en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11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**[→ DÉMO possible : historique analyses IA ou lancement nouveauté]**</a:t>
            </a:r>
          </a:p>
          <a:p/>
          <a:p>
            <a:r>
              <a:t>Le troisième pilier, c'est l'**intelligence artificielle assistive**.</a:t>
            </a:r>
          </a:p>
          <a:p/>
          <a:p>
            <a:r>
              <a:t>Sept types d'analyses sont disponibles : nouveauté, liberté d'exploitation — la FTO —, analyse sémantique, similarité, résumé de document, classification IPC, et suggestions de tags.</a:t>
            </a:r>
          </a:p>
          <a:p/>
          <a:p>
            <a:r>
              <a:t>Les sources sont **réelles** : brevets internationaux via l'EPO, publications marocaines via le filtre **`pn=MA`**, marques via le portail OMPIC.</a:t>
            </a:r>
          </a:p>
          <a:p/>
          <a:p>
            <a:r>
              <a:t>Le traitement est **asynchrone** : l'utilisateur lance l'analyse, elle passe en « en attente », un **worker** la traite, puis les résultats s'affichent. C'est documenté — sans worker actif, l'analyse reste en attente. J'ai préféré cette honnêteté à une fausse promesse de résultat instantané.</a:t>
            </a:r>
          </a:p>
          <a:p/>
          <a:p>
            <a:r>
              <a:t>Toutes les synthèses rappellent qu'elles sont **indicatives** et ne remplacent pas un avis juridique.</a:t>
            </a:r>
          </a:p>
          <a:p/>
          <a:p>
            <a:r>
              <a:t>J'ai aussi corrigé un incident réel : une requête EPO utilisait `pa=MA` — le déposant — au lieu de `pn=MA` — le pays de publication. Résultat : des 404 et des analyses incomplètes. La correction est testée unitairement.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12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**[→ DÉMO possible : Surveillance → recherche marque]**</a:t>
            </a:r>
          </a:p>
          <a:p/>
          <a:p>
            <a:r>
              <a:t>Le quatrième pilier : **surveillance et veille**.</a:t>
            </a:r>
          </a:p>
          <a:p/>
          <a:p>
            <a:r>
              <a:t>La **watchlist** permet de suivre les titres enregistrés et de lancer des scans de similarité sur **search.ompic.ma** — le portail public des marques.</a:t>
            </a:r>
          </a:p>
          <a:p/>
          <a:p>
            <a:r>
              <a:t>Comme l'OMPIC ne publie pas d'API officielle, j'ai conçu un fournisseur **configurable** : mode live, stub pour démo hors ligne, proxy, ou hybride. Chaque mode est **documenté** — je ne simule pas une API officielle qui n'existe pas.</a:t>
            </a:r>
          </a:p>
          <a:p/>
          <a:p>
            <a:r>
              <a:t>La **veille technologique** suit des mots-clés et des classes IPC sur les brevets EPO.</a:t>
            </a:r>
          </a:p>
          <a:p/>
          <a:p>
            <a:r>
              <a:t>Des **rappels d'échéances** s'affichent sur le tableau de bord : fenêtre d'opposition pour les marques, attente de publication pour les brevets.</a:t>
            </a:r>
          </a:p>
          <a:p/>
          <a:p>
            <a:r>
              <a:t>Pour les **dessins et modèles**, j'ai conservé le cycle de gestion du dossier, mais **sans moteur de recherche automatique** — faute d'API OMPIC. C'est un choix de transparence assumé.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13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Cette slide résume la leçon métier la plus importante du stage.</a:t>
            </a:r>
          </a:p>
          <a:p/>
          <a:p>
            <a:r>
              <a:t>**Marque** : dépôt, publication, opposition d'environ **deux mois**, enregistrement, puis surveillance continue.</a:t>
            </a:r>
          </a:p>
          <a:p/>
          <a:p>
            <a:r>
              <a:t>**Brevet** : dépôt, examen, attente de publication d'environ **dix-huit mois**, délivrance, puis veille.</a:t>
            </a:r>
          </a:p>
          <a:p/>
          <a:p>
            <a:r>
              <a:t>**Dessin et modèle** : dépôt, examen, publication, surveillance — avec recherche d'antériorité visuelle **manuelle** sur les portails officiels.</a:t>
            </a:r>
          </a:p>
          <a:p/>
          <a:p>
            <a:r>
              <a:t>Même l'interface reflète cette distinction : pour une marque, on parle de **« description de la marque »** ; pour un brevet, de **« résumé de l'invention »** — parce qu'une marque n'est pas une invention technique.</a:t>
            </a:r>
          </a:p>
          <a:p/>
          <a:p>
            <a:r>
              <a:t>C'est la traduction concrète de la remarque de mon encadrante.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14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En fin de stage, j'ai enrichi la plateforme avec plusieurs modules inspirés d'outils professionnels du marché — à l'échelle d'un MVP.</a:t>
            </a:r>
          </a:p>
          <a:p/>
          <a:p>
            <a:r>
              <a:t>Un **tableau de bord portefeuille** pour le CPI : répartition par statut et par type de PI.</a:t>
            </a:r>
          </a:p>
          <a:p/>
          <a:p>
            <a:r>
              <a:t>Une **cartographie des revendications** face à l'antériorité — un *claim chart* simplifié.</a:t>
            </a:r>
          </a:p>
          <a:p/>
          <a:p>
            <a:r>
              <a:t>Un **générateur de dénominations** pour les projets marque, avec vérification OMPIC en un clic.</a:t>
            </a:r>
          </a:p>
          <a:p/>
          <a:p>
            <a:r>
              <a:t>Une **assistance à la réponse** aux irrégularités OMPIC : brouillon structuré à partir d'une notification reçue.</a:t>
            </a:r>
          </a:p>
          <a:p/>
          <a:p>
            <a:r>
              <a:t>Et les modules déjà cités : **score de complétude** et **pré-examen de brouillon**.</a:t>
            </a:r>
          </a:p>
          <a:p/>
          <a:p>
            <a:r>
              <a:t>Tous s'appuient sur des **données réelles** du dossier — pas de catalogue simulé présenté comme officiel.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15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Sur la sécurité, trois points clés.</a:t>
            </a:r>
          </a:p>
          <a:p/>
          <a:p>
            <a:r>
              <a:t>**Un** : le Row Level Security PostgreSQL, avec des fonctions centralisées comme `can_view_project` — admin, propriétaire, membre, CPI assigné, expert.</a:t>
            </a:r>
          </a:p>
          <a:p/>
          <a:p>
            <a:r>
              <a:t>**Deux** : l'authentification — email confirmé, double facteur TOTP disponible.</a:t>
            </a:r>
          </a:p>
          <a:p/>
          <a:p>
            <a:r>
              <a:t>**Trois** : le journal d'audit pour les actions sensibles côté administrateur.</a:t>
            </a:r>
          </a:p>
          <a:p/>
          <a:p>
            <a:r>
              <a:t>La difficulté la plus marquante ici : une policy mal écrite renvoie parfois un résultat **vide sans message d'erreur**. J'ai appris à tester systématiquement avec deux comptes après chaque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16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La qualité est assurée à trois niveaux.</a:t>
            </a:r>
          </a:p>
          <a:p/>
          <a:p>
            <a:r>
              <a:t>Plus de **cent tests unitaires** avec Vitest — requêtes EPO, cycles PI, score de complétude, pré-examen brevet, similarité OMPIC.</a:t>
            </a:r>
          </a:p>
          <a:p/>
          <a:p>
            <a:r>
              <a:t>Des **tests de bout en bout** Playwright sur les parcours critiques.</a:t>
            </a:r>
          </a:p>
          <a:p/>
          <a:p>
            <a:r>
              <a:t>Et une **validation métier** continue : démonstrations devant l'encadrante, scénarios marque et brevet documentés.</a:t>
            </a:r>
          </a:p>
          <a:p/>
          <a:p>
            <a:r>
              <a:t>Les commandes `npm test`, `npm run typecheck` et `npm run build` passent au vert avant chaque livraison.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17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À la clôture du stage, les éléments suivants sont **opérationnels** :</a:t>
            </a:r>
          </a:p>
          <a:p/>
          <a:p>
            <a:r>
              <a:t>le parcours complet porteur vers conseiller ;</a:t>
            </a:r>
          </a:p>
          <a:p/>
          <a:p>
            <a:r>
              <a:t>les analyses IA, avec le worker ;</a:t>
            </a:r>
          </a:p>
          <a:p/>
          <a:p>
            <a:r>
              <a:t>la surveillance OMPIC en mode hybride ;</a:t>
            </a:r>
          </a:p>
          <a:p/>
          <a:p>
            <a:r>
              <a:t>la rédaction et l'export de brevet ;</a:t>
            </a:r>
          </a:p>
          <a:p/>
          <a:p>
            <a:r>
              <a:t>les cycles différenciés marque, brevet et dessin ;</a:t>
            </a:r>
          </a:p>
          <a:p/>
          <a:p>
            <a:r>
              <a:t>le pré-examen et le score de complétude ;</a:t>
            </a:r>
          </a:p>
          <a:p/>
          <a:p>
            <a:r>
              <a:t>et un déploiement documenté sur Vercel et Supabase.</a:t>
            </a:r>
          </a:p>
          <a:p/>
          <a:p>
            <a:r>
              <a:t>C'est un **MVP crédible** pour une démonstration et un usage pilote chez I2PA.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18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Je préfère être transparent sur les **limites** — le jury les posera de toute façon.</a:t>
            </a:r>
          </a:p>
          <a:p/>
          <a:p>
            <a:r>
              <a:t>Il n'existe **pas d'API OMPIC officielle** : la recherche marques passe par le portail public.</a:t>
            </a:r>
          </a:p>
          <a:p/>
          <a:p>
            <a:r>
              <a:t>Les analyses IA nécessitent un **worker actif** — ce n'est pas magique en un clic sans infrastructure.</a:t>
            </a:r>
          </a:p>
          <a:p/>
          <a:p>
            <a:r>
              <a:t>Les synthèses restent **indicatives** : la décision appartient au CPI.</a:t>
            </a:r>
          </a:p>
          <a:p/>
          <a:p>
            <a:r>
              <a:t>Pour les **dessins**, pas de recherche automatique — plutôt que de simuler des résultats faux.</a:t>
            </a:r>
          </a:p>
          <a:p/>
          <a:p>
            <a:r>
              <a:t>Et PatentIQ reste un **produit minimal**, pas un logiciel commercial complet type Questel ou PatSnap.</a:t>
            </a:r>
          </a:p>
          <a:p/>
          <a:p>
            <a:r>
              <a:t>Comme je l'écris dans mon rapport : *une limite documentée vaut mieux qu'une illusion confortable*.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19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Les perspectives sont naturelles : industrialiser la passerelle OMPIC, activer les notifications email, enrichir le RAG avec des embeddings vectoriels, renforcer les tests E2E en intégration continue, et envisager une **mise en production encadrée** chez I2PA.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20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Pour conclure.</a:t>
            </a:r>
          </a:p>
          <a:p/>
          <a:p>
            <a:r>
              <a:t>**PatentIQ** structure la préparation et le suivi d'un dossier de propriété intellectuelle pour un cabinet comme I2PA : collaboration multi-acteurs, antériorité assistée, surveillance OMPIC, cycles différenciés.</a:t>
            </a:r>
          </a:p>
          <a:p/>
          <a:p>
            <a:r>
              <a:t>Le dépôt officiel reste sur **directompic.ma** — et c'est voulu.</a:t>
            </a:r>
          </a:p>
          <a:p/>
          <a:p>
            <a:r>
              <a:t>Sur le plan personnel, ce stage m'a appris que **le métier impose l'architecture**. Écouter avant de coder. Corriger plutôt que masquer. Et livrer quelque chose d'honnête.</a:t>
            </a:r>
          </a:p>
          <a:p/>
          <a:p>
            <a:r>
              <a:t>Je remercie l'équipe **I2PA**, mon encadrante **[nom]** pour ses retours qui ont orienté chaque itération, et mon tuteur **[nom]** pour son suivi académique.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— Slide 21</a:t>
            </a:r>
          </a:p>
          <a:p>
            <a:r>
              <a:t>────────────────────────────────────────</a:t>
            </a:r>
          </a:p>
          <a:p/>
          <a:p>
            <a:r>
              <a:t>Je vous remercie pour votre attention.</a:t>
            </a:r>
          </a:p>
          <a:p/>
          <a:p>
            <a:r>
              <a:t>Je suis disponible pour vos **questions**.</a:t>
            </a:r>
          </a:p>
          <a:p/>
          <a:p>
            <a:r>
              <a:t>Si vous le souhaitez, je peux également vous montrer une **démonstration live** de l'application — parcours marque ou brevet.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PatentIQ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1E293B"/>
                </a:solidFill>
              </a:defRPr>
            </a:pPr>
            <a:r>
              <a:t>Plateforme web d'assistance à la propriété intellectuelle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[Prénom NOM] · Stage I2PA · [JJ/MM/AAAA – JJ/MM/AAAA]</a:t>
            </a:r>
            <a:br/>
            <a:r>
              <a:t>[École / Filière] · Encadrante : [Nom] · Tuteur : [Nom]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Contexte I2PA et problématique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Objectifs et méthode de travail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Architecture et acteurs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Les 4 piliers fonctionnels de PatentIQ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Intelligence artificielle (encadrée et honnête)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Résultats, difficultés et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I2PA — Contexte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Cabinet marocain de conseil en propriété intellectuelle (Mohammedia)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Mission : accompagner porteurs et entreprises — brevets, marques, dessins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I2PA conseille et structure ; le dépôt officiel reste sur l'OMPIC (directompic.ma)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Slogan : « Protéger, valoriser, innover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Dossiers PI dispersés : emails, PDF mal rangés, antériorité non reliée au dossier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Délais critiques : opposition marque (~2 mois) vs publication brevet (~18 mois)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Pas d'outil léger adapté au contexte marocain porteur ↔ conseiller CPI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 i="1">
                <a:solidFill>
                  <a:srgbClr val="0A66C2"/>
                </a:solidFill>
              </a:defRPr>
            </a:pPr>
            <a:r>
              <a:t>Comment centraliser et fiabiliser le suivi d'un dossier PI, sans se substituer à l'OMPIC, avec une IA transparente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Objectifs du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Comprendre le parcours réel d'un dossier PI au Maroc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Concevoir et développer PatentIQ par itérations courtes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Aligner les fonctionnalités sur les retours de l'encadrante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Tester, documenter et préparer une démonstration crédible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Méthode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Développement incrémental : migration SQL → action serveur → interface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Validation « double session » : porteur (navigateur 1) + CPI (navigateur 2)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3 phases : socle collaboratif → attentes métier → consolidation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32 migrations · 104+ tests unitaires · documentation dans docs/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Frontend : Next.js 14 (App Router), React, TypeScript, Tailwind, shadcn/ui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Backend : Server Actions + Supabase (PostgreSQL, Auth, Storage)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Sécurité : Row Level Security — permissions en base, pas seulement dans l'UI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Externe : EPO OPS (brevets), Hugging Face (synthèse), search.ompic.ma (marques)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Déploiement : Vercel + Supabase (tier gratuit)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Acteurs et espaces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Porteur de projet → /dashboard : crée le dossier, dépose, lance les analyses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Conseiller CPI → /cpi : revue, statuts, Kanban, surveillance portefeuille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Expert métier → /expert : avis technique structuré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Administrateur → /admin : utilisateurs, paramètres, audit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7 catégories de dossiers · checklists adaptées à chaque type de titre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Pilier 1 — Dossier collaboratif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Projet structuré : Dossier · Analyses IA · Échanges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Documents versionnés (PDF, Word, images) — stockage sécurisé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Checklist métier par catégorie (brevet ≠ marque ≠ dessin)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Score de complétude : résumé, documents, checklist → % + prochaine action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Workflow 9 statuts : brouillon → soumis → revue CPI → approuvé / clôturé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Pilier 2 — Rédaction &amp; revendications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Sections brevet structurées (titre, abrégé, description, revendications)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Revendications dans un espace dédié — séparé des messages ouverts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Pré-examen automatique : anomalies fréquentes avant revue CPI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· Revendication indépendante, abrégé ≤ 150 mots, termes vagues, base d'antériorité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Export dossier brevet (PDF) pour le conseiller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Pilier 3 — Analyses IA assistées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7 types : nouveauté, FTO, sémantique, similarité, résumé, classification IPC, tags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Sources réelles : EPO OPS + filtre pn=MA (brevets Maroc) + OMPIC marques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Pipeline asynchrone : pending → worker → completed (documenté)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Synthèses indicatives — rappel explicite : ne remplace pas un avis juridique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Incident corrigé : pa=MA (déposant) → pn=MA (publication marocaine)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Pilier 4 — Surveillance &amp; veille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Watchlist OMPIC : scan similarité marques sur search.ompic.ma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Modes honnêtes : live · stub (démo) · proxy · hybrid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Veille technologique : mots-clés + classes IPC sur brevets EPO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Échéances PI : opposition marque, publication brevet — rappels tableau de bord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Dessins : cycle de gestion oui ; recherche auto non (pas d'API OMPIC)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Cycles de vie distincts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Marque : dépôt → publication → opposition (~2 mois) → enregistrement → surveillance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Brevet : dépôt → examen → publication (~18 mois) → délivrance → veille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Dessin &amp; modèle : dépôt → examen → publication → surveillance manuelle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Libellés UI adaptés : « Description de la marque » ≠ « Résumé de l'invention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Fonctionnalités avancées (fin de stage)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Tableau de bord portefeuille CPI (répartition statuts / types PI)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Cartographie des revendications vs antériorité (claim chart)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Générateur de dénominations de marque + vérification OMPIC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Assistance réponse aux irrégularités OMPIC (brouillon structuré)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Pré-examen brevet + score de complétude (heuristiques testables)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Sécurité &amp; confidentialité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PostgreSQL RLS : can_view_project(), can_edit_project()…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Un porteur ne voit jamais le dossier d'un autre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Email confirmé à l'inscription · 2FA TOTP disponible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Journal d'audit des actions sensibles (admin)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Tests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104+ tests unitaires (Vitest) : EPO, cycles PI, complétude, pré-examen…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Tests E2E Playwright : parcours critiques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Validation métier : démos régulières devant l'encadrante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Scénarios documentés : parcours marque + parcours brevet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Résultats à la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✓ Parcours porteur → conseiller opérationnel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✓ Analyses IA + surveillance OMPIC (mode hybrid)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✓ Rédaction brevet, revendications, export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✓ Cycles marque / brevet / dessin différenciés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✓ Déploiement documenté (Vercel + Supabase)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Limites assumées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Pas d'API OMPIC officielle → recherche marques via portail public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Analyses IA : worker requis (npm run ai:worker:loop)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Synthèses indicatives — décision finale = CPI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Dessins : pas de moteur de recherche automatique (choix de transparence)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MVP crédible, pas produit commercial complet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Industrialiser la passerelle OMPIC (partenariat / proxy)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Notifications email · embeddings vectoriels pour le RAG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Renforcement tests E2E en CI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Mise en production encadrée chez I2PA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PatentIQ structure la préparation et le suivi d'un dossier PI pour I2PA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Collaboration multi-acteurs · antériorité assistée · surveillance OMPIC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Le métier impose l'architecture — écouter avant de coder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Le dépôt officiel reste sur directompic.ma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 i="1">
                <a:solidFill>
                  <a:srgbClr val="0A66C2"/>
                </a:solidFill>
              </a:defRPr>
            </a:pPr>
            <a:r>
              <a:t>« Une limite documentée vaut mieux qu'une illusion confortable.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1E293B"/>
                </a:solidFill>
              </a:defRPr>
            </a:pPr>
            <a: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PatentIQ · I2PA · [Prénom NOM]</a:t>
            </a:r>
            <a:br/>
            <a:r>
              <a:t>Démo live disponible · docs/DEMO_ENCADRANTE.md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